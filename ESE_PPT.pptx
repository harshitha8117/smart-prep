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73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8"/>
    <p:sldId id="272" r:id="rId19"/>
  </p:sldIdLst>
  <p:sldSz cx="12192000" cy="6858000"/>
  <p:notesSz cx="6858000" cy="9144000"/>
  <p:embeddedFontLst>
    <p:embeddedFont>
      <p:font typeface="Arial Narrow" panose="020B0606020202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gf10L9/O25FquuOPl/RY1EpRjf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DD818E-ADFA-4579-856F-A3140DA02BD1}">
  <a:tblStyle styleId="{3CDD818E-ADFA-4579-856F-A3140DA02B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D56CB382-0209-B752-C3B9-3ABF3491B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>
            <a:extLst>
              <a:ext uri="{FF2B5EF4-FFF2-40B4-BE49-F238E27FC236}">
                <a16:creationId xmlns:a16="http://schemas.microsoft.com/office/drawing/2014/main" id="{419BF7A3-FD12-C981-F145-4352571B0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>
            <a:extLst>
              <a:ext uri="{FF2B5EF4-FFF2-40B4-BE49-F238E27FC236}">
                <a16:creationId xmlns:a16="http://schemas.microsoft.com/office/drawing/2014/main" id="{3082658A-F453-917A-0FD7-E0312784E8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7330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FFC7DFEF-3B2E-D017-0B21-BC210BF4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1B5CA6E9-7386-2799-6840-751B808D7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EA42349E-92BC-7FC0-2C31-D4076D738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1983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3C1E655B-A341-3619-F687-C18AD4E0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>
            <a:extLst>
              <a:ext uri="{FF2B5EF4-FFF2-40B4-BE49-F238E27FC236}">
                <a16:creationId xmlns:a16="http://schemas.microsoft.com/office/drawing/2014/main" id="{42A01C9D-D513-EC7A-DB57-5A2A12615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>
            <a:extLst>
              <a:ext uri="{FF2B5EF4-FFF2-40B4-BE49-F238E27FC236}">
                <a16:creationId xmlns:a16="http://schemas.microsoft.com/office/drawing/2014/main" id="{20F5E407-20E3-63F2-7964-49A89E8D0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885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261257" y="2159687"/>
            <a:ext cx="11636830" cy="437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20CS7503 &amp; DESIGN PROJECT – III</a:t>
            </a:r>
          </a:p>
          <a:p>
            <a:pPr marL="0" lvl="0" indent="0" algn="ctr">
              <a:buSzPts val="3600"/>
              <a:buNone/>
            </a:pPr>
            <a:endParaRPr lang="en-US" b="1" dirty="0">
              <a:latin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/>
              <a:t>END SEMESTER PRACTICAL EXAMINATION- DEC 2025</a:t>
            </a: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u="sng" dirty="0">
                <a:latin typeface="Arial Narrow"/>
                <a:ea typeface="Arial Narrow"/>
                <a:cs typeface="Arial Narrow"/>
                <a:sym typeface="Arial Narrow"/>
              </a:rPr>
              <a:t>REVIEW PRESENTATION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No.:19</a:t>
            </a: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Date: 01-12-2025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Session: AN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>
          <a:blip r:embed="rId3">
            <a:alphaModFix/>
          </a:blip>
          <a:srcRect l="16357" r="14907" b="8148"/>
          <a:stretch>
            <a:fillRect/>
          </a:stretch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1154A9-AC42-7CD3-98A5-5A0376D65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2" y="0"/>
            <a:ext cx="5348811" cy="18735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191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SMART PREP:AI POWERED SUMMARIZER AND TESTS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95816" y="3594414"/>
            <a:ext cx="3918867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Guide Name: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Mr. A. MALARMANNAN M.E.,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7386833" y="3631450"/>
            <a:ext cx="46125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Team Members: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ABINAYA SHREE J(811722104004)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CHARULATHA K(811722104023)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HARSHITHA K(811722104052)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838200" y="2190750"/>
            <a:ext cx="10515600" cy="303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</a:t>
            </a:r>
            <a:r>
              <a:rPr lang="en-US" b="1" dirty="0"/>
              <a:t> </a:t>
            </a:r>
            <a:r>
              <a:rPr lang="en-US" dirty="0">
                <a:latin typeface="Arial Narrow" panose="020B0606020202030204" pitchFamily="34" charset="0"/>
              </a:rPr>
              <a:t>Automate document text extraction from PDF files to eliminate manual reading effort and reduce time spent parsing lengthy materials.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just">
              <a:lnSpc>
                <a:spcPct val="100000"/>
              </a:lnSpc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2.</a:t>
            </a:r>
            <a:r>
              <a:rPr lang="en-US" dirty="0">
                <a:latin typeface="Arial Narrow" panose="020B0606020202030204" pitchFamily="34" charset="0"/>
              </a:rPr>
              <a:t> Generate intelligent, AI-powered summaries, insights, and structured study questions tailored for academic preparation.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just">
              <a:lnSpc>
                <a:spcPct val="100000"/>
              </a:lnSpc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3.</a:t>
            </a:r>
            <a:r>
              <a:rPr lang="en-US" dirty="0">
                <a:latin typeface="Arial Narrow" panose="020B0606020202030204" pitchFamily="34" charset="0"/>
              </a:rPr>
              <a:t> Personalize analysis based on page range, question type, and output format, offering flexibility in how content is consumed.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140750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514350" lvl="0" indent="-51435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The volume of academic content continues to grow, making it difficult for students to manually process large PDFs and study materials.</a:t>
            </a:r>
          </a:p>
          <a:p>
            <a:pPr marL="514350" lvl="0" indent="-51435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Traditional learning tools focus primarily on viewing documents, offering little support for summarization or conceptual understanding.</a:t>
            </a:r>
          </a:p>
          <a:p>
            <a:pPr marL="514350" lvl="0" indent="-51435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With advancements in Large Language Models (LLMs), AI can now generate high-quality summaries, questions, and insights with remarkable accuracy.</a:t>
            </a:r>
          </a:p>
          <a:p>
            <a:pPr marL="514350" lvl="0" indent="-51435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Smart Prep integrates PDF extraction and AI reasoning into a single streamlined workflow, reducing the cognitive load on students.</a:t>
            </a:r>
          </a:p>
          <a:p>
            <a:pPr marL="514350" lvl="0" indent="-51435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The system acts as a personal study assistant, transforming raw documents into digestible, exam-oriented learning resources instantly.</a:t>
            </a:r>
            <a:endParaRPr dirty="0">
              <a:latin typeface="Arial Narrow" panose="020B0606020202030204" pitchFamily="34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5"/>
          <p:cNvGraphicFramePr/>
          <p:nvPr>
            <p:extLst>
              <p:ext uri="{D42A27DB-BD31-4B8C-83A1-F6EECF244321}">
                <p14:modId xmlns:p14="http://schemas.microsoft.com/office/powerpoint/2010/main" val="492577670"/>
              </p:ext>
            </p:extLst>
          </p:nvPr>
        </p:nvGraphicFramePr>
        <p:xfrm>
          <a:off x="412956" y="708000"/>
          <a:ext cx="11444748" cy="5669279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2841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1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1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9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63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THE PAPER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18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Automatic Text Summarization using NLP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Jane Doe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Proposed algorithms to summarize large documents efficiently using extractive methods.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NLP, Python (NLTK, </a:t>
                      </a:r>
                      <a:r>
                        <a:rPr lang="en-US" sz="1800" dirty="0" err="1"/>
                        <a:t>spaCy</a:t>
                      </a:r>
                      <a:r>
                        <a:rPr lang="en-US" sz="1800" dirty="0"/>
                        <a:t>)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18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Generating Questions from Text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John Smith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Discussed methods to generate short and long-answer questions from educational content.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NLP, Machine Learning, Python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29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PDF Text Extraction Techniques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Alice Brown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Compared techniques to extract text accurately from PDFs and DOCX.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PDF-Parse, Mammoth, JavaScript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18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AI-Assisted Learning Tools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Robert Lee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Developed a system for students to get summaries and practice questions automatically.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OpenAI API, NLP, Node.js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4185507E-2F22-3769-AD4C-369BDAEAE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>
            <a:extLst>
              <a:ext uri="{FF2B5EF4-FFF2-40B4-BE49-F238E27FC236}">
                <a16:creationId xmlns:a16="http://schemas.microsoft.com/office/drawing/2014/main" id="{8723BC2E-D94D-EE9D-E1A5-5C823461CAE0}"/>
              </a:ext>
            </a:extLst>
          </p:cNvPr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>
            <a:extLst>
              <a:ext uri="{FF2B5EF4-FFF2-40B4-BE49-F238E27FC236}">
                <a16:creationId xmlns:a16="http://schemas.microsoft.com/office/drawing/2014/main" id="{33F851DC-3E4C-4D78-33A2-997EEAEB74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5">
            <a:extLst>
              <a:ext uri="{FF2B5EF4-FFF2-40B4-BE49-F238E27FC236}">
                <a16:creationId xmlns:a16="http://schemas.microsoft.com/office/drawing/2014/main" id="{01C7657B-DE7B-0EB7-1B6D-AC58496DC4C5}"/>
              </a:ext>
            </a:extLst>
          </p:cNvPr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5">
            <a:extLst>
              <a:ext uri="{FF2B5EF4-FFF2-40B4-BE49-F238E27FC236}">
                <a16:creationId xmlns:a16="http://schemas.microsoft.com/office/drawing/2014/main" id="{3A69F04F-18F8-6BE4-852F-1DE7EC74F3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8345518"/>
              </p:ext>
            </p:extLst>
          </p:nvPr>
        </p:nvGraphicFramePr>
        <p:xfrm>
          <a:off x="412956" y="708000"/>
          <a:ext cx="11444748" cy="5876185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2841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1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1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9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63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THE PAPER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18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Text Summarization Using Transformer-Based Deep Learning Models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A. </a:t>
                      </a:r>
                      <a:r>
                        <a:rPr lang="en-US" sz="1800" dirty="0" err="1"/>
                        <a:t>Nallapati</a:t>
                      </a:r>
                      <a:r>
                        <a:rPr lang="en-US" sz="1800" dirty="0"/>
                        <a:t>, J. Cheng, A. FitzGerald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The paper demonstrates how transformer architectures perform traditional summarization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BERT, PEGASUS, Seq2Seq Transformers, NLP preprocessing.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18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Automatic Question Generation Using T5 Transformer Model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P. Lewis, M. Ott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Introduces a method for generating questions from textual content using the T5 model.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T5, Encoder-Decoder architecture, Beam Search, NLP pipelines.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29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 Study on PDF Text Extraction Techniques for NLP Applications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S. Patankar, R. Kanade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Compares PDF extraction frameworks multi-column text when preparing input for NLP tasks.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/>
                        <a:t>pdfminer.six</a:t>
                      </a:r>
                      <a:r>
                        <a:rPr lang="en-US" sz="1800" dirty="0"/>
                        <a:t>, PyPDF2, OCR methods, Text normalization tools.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18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AI-Assisted Learning Systems for Automated Study Material Generation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J. Kim, L. Wang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Discusses integrated systems that combine summarization, question generation, to support efficient academic learning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Deep Learning-based NLP models, Cloud AI APIs, LLMs such as GPT/</a:t>
                      </a:r>
                      <a:r>
                        <a:rPr lang="en-US" sz="1800" dirty="0" err="1"/>
                        <a:t>LLaMA</a:t>
                      </a:r>
                      <a:r>
                        <a:rPr lang="en-US" sz="1800" dirty="0"/>
                        <a:t>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934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EXISTING SYSTEM </a:t>
            </a:r>
            <a:r>
              <a:rPr lang="en-US" dirty="0"/>
              <a:t>ARCHITECTURE</a:t>
            </a:r>
            <a:endParaRPr dirty="0">
              <a:sym typeface="Arial Narrow"/>
            </a:endParaRPr>
          </a:p>
        </p:txBody>
      </p:sp>
      <p:pic>
        <p:nvPicPr>
          <p:cNvPr id="8" name="Graphic 7" descr="Document with solid fill">
            <a:extLst>
              <a:ext uri="{FF2B5EF4-FFF2-40B4-BE49-F238E27FC236}">
                <a16:creationId xmlns:a16="http://schemas.microsoft.com/office/drawing/2014/main" id="{E4DC389A-4EAE-3F11-CADB-4A8BE4917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1573" y="2394155"/>
            <a:ext cx="1018252" cy="1034845"/>
          </a:xfrm>
          <a:prstGeom prst="rect">
            <a:avLst/>
          </a:prstGeom>
        </p:spPr>
      </p:pic>
      <p:pic>
        <p:nvPicPr>
          <p:cNvPr id="10" name="Graphic 9" descr="Head with gears with solid fill">
            <a:extLst>
              <a:ext uri="{FF2B5EF4-FFF2-40B4-BE49-F238E27FC236}">
                <a16:creationId xmlns:a16="http://schemas.microsoft.com/office/drawing/2014/main" id="{E15004D3-175F-02DE-3595-C5F86377B8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3952" y="2512140"/>
            <a:ext cx="1101212" cy="1002889"/>
          </a:xfrm>
          <a:prstGeom prst="rect">
            <a:avLst/>
          </a:prstGeom>
        </p:spPr>
      </p:pic>
      <p:pic>
        <p:nvPicPr>
          <p:cNvPr id="18" name="Graphic 17" descr="List with solid fill">
            <a:extLst>
              <a:ext uri="{FF2B5EF4-FFF2-40B4-BE49-F238E27FC236}">
                <a16:creationId xmlns:a16="http://schemas.microsoft.com/office/drawing/2014/main" id="{D42AEF5D-5468-9337-ACCA-EB8DFA2A5C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86231" y="2466594"/>
            <a:ext cx="1101213" cy="1093980"/>
          </a:xfrm>
          <a:prstGeom prst="rect">
            <a:avLst/>
          </a:prstGeom>
        </p:spPr>
      </p:pic>
      <p:pic>
        <p:nvPicPr>
          <p:cNvPr id="20" name="Graphic 19" descr="Playbook with solid fill">
            <a:extLst>
              <a:ext uri="{FF2B5EF4-FFF2-40B4-BE49-F238E27FC236}">
                <a16:creationId xmlns:a16="http://schemas.microsoft.com/office/drawing/2014/main" id="{F7D363AC-ADB3-2375-C40A-821F96EFE0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80987" y="2342532"/>
            <a:ext cx="1101213" cy="134210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BDE8311-A7B7-4523-4095-2B3FA4D1A55E}"/>
              </a:ext>
            </a:extLst>
          </p:cNvPr>
          <p:cNvSpPr txBox="1"/>
          <p:nvPr/>
        </p:nvSpPr>
        <p:spPr>
          <a:xfrm>
            <a:off x="1594435" y="3859784"/>
            <a:ext cx="11110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Read</a:t>
            </a:r>
          </a:p>
          <a:p>
            <a:r>
              <a:rPr lang="en-US" b="1" dirty="0"/>
              <a:t>Document</a:t>
            </a:r>
          </a:p>
          <a:p>
            <a:r>
              <a:rPr lang="en-US" b="1" dirty="0"/>
              <a:t>Manually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550367-847A-1A53-69B6-9E6CDD8A1199}"/>
              </a:ext>
            </a:extLst>
          </p:cNvPr>
          <p:cNvSpPr txBox="1"/>
          <p:nvPr/>
        </p:nvSpPr>
        <p:spPr>
          <a:xfrm>
            <a:off x="4100054" y="3873910"/>
            <a:ext cx="11012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Identify</a:t>
            </a:r>
          </a:p>
          <a:p>
            <a:r>
              <a:rPr lang="en-US" b="1" dirty="0"/>
              <a:t>Key Points</a:t>
            </a:r>
          </a:p>
          <a:p>
            <a:r>
              <a:rPr lang="en-US" b="1" dirty="0"/>
              <a:t>manually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222391-CE50-6CD2-0F58-EB4D56CBFF80}"/>
              </a:ext>
            </a:extLst>
          </p:cNvPr>
          <p:cNvSpPr txBox="1"/>
          <p:nvPr/>
        </p:nvSpPr>
        <p:spPr>
          <a:xfrm>
            <a:off x="6595840" y="3883742"/>
            <a:ext cx="115288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Prepare</a:t>
            </a:r>
          </a:p>
          <a:p>
            <a:r>
              <a:rPr lang="en-US" b="1" dirty="0"/>
              <a:t>Summaries</a:t>
            </a:r>
          </a:p>
          <a:p>
            <a:r>
              <a:rPr lang="en-US" b="1" dirty="0"/>
              <a:t>manually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2FC06F-EC90-F93D-77C6-19987574EBCE}"/>
              </a:ext>
            </a:extLst>
          </p:cNvPr>
          <p:cNvSpPr txBox="1"/>
          <p:nvPr/>
        </p:nvSpPr>
        <p:spPr>
          <a:xfrm>
            <a:off x="8998975" y="3912496"/>
            <a:ext cx="11012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Create</a:t>
            </a:r>
          </a:p>
          <a:p>
            <a:r>
              <a:rPr lang="en-US" b="1" dirty="0"/>
              <a:t>Questions</a:t>
            </a:r>
          </a:p>
          <a:p>
            <a:r>
              <a:rPr lang="en-US" b="1" dirty="0"/>
              <a:t>manually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67BF052-6118-EF5C-AADF-8597AFB9B935}"/>
              </a:ext>
            </a:extLst>
          </p:cNvPr>
          <p:cNvCxnSpPr/>
          <p:nvPr/>
        </p:nvCxnSpPr>
        <p:spPr>
          <a:xfrm>
            <a:off x="2519825" y="3013583"/>
            <a:ext cx="13147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384E18C-5F35-1444-6E8F-3E2FEC385B39}"/>
              </a:ext>
            </a:extLst>
          </p:cNvPr>
          <p:cNvCxnSpPr>
            <a:cxnSpLocks/>
          </p:cNvCxnSpPr>
          <p:nvPr/>
        </p:nvCxnSpPr>
        <p:spPr>
          <a:xfrm>
            <a:off x="5055164" y="3013583"/>
            <a:ext cx="15310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375002F-EECF-C389-36F7-9F562FCBA719}"/>
              </a:ext>
            </a:extLst>
          </p:cNvPr>
          <p:cNvCxnSpPr/>
          <p:nvPr/>
        </p:nvCxnSpPr>
        <p:spPr>
          <a:xfrm>
            <a:off x="7687444" y="3013583"/>
            <a:ext cx="11935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7FEFE7C5-B014-B248-A280-1360BE6D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8DDF3340-775D-1206-5F9C-2A604B9E05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>
            <a:extLst>
              <a:ext uri="{FF2B5EF4-FFF2-40B4-BE49-F238E27FC236}">
                <a16:creationId xmlns:a16="http://schemas.microsoft.com/office/drawing/2014/main" id="{1F26A455-1F7F-0E24-548B-1E2404FC73D5}"/>
              </a:ext>
            </a:extLst>
          </p:cNvPr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PROBLEM IDENTIFICAITON</a:t>
            </a:r>
            <a:endParaRPr dirty="0">
              <a:sym typeface="Arial Narro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BDA42-5836-D2E3-1290-9E9478C88B40}"/>
              </a:ext>
            </a:extLst>
          </p:cNvPr>
          <p:cNvSpPr txBox="1"/>
          <p:nvPr/>
        </p:nvSpPr>
        <p:spPr>
          <a:xfrm>
            <a:off x="778928" y="1228397"/>
            <a:ext cx="1078774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800" dirty="0">
                <a:latin typeface="Arial Narrow" panose="020B0606020202030204" pitchFamily="34" charset="0"/>
              </a:rPr>
              <a:t>Students often struggle to efficiently extract key information from long PDF documents, leading to decreased study productivity.</a:t>
            </a:r>
          </a:p>
          <a:p>
            <a:pPr marL="514350" lvl="0" indent="-5143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800" dirty="0">
                <a:latin typeface="Arial Narrow" panose="020B0606020202030204" pitchFamily="34" charset="0"/>
              </a:rPr>
              <a:t>Manual summarization and question creation require significant time and effort, especially when preparing for exams under tight deadlines.</a:t>
            </a:r>
          </a:p>
          <a:p>
            <a:pPr marL="514350" lvl="0" indent="-5143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800" dirty="0">
                <a:latin typeface="Arial Narrow" panose="020B0606020202030204" pitchFamily="34" charset="0"/>
              </a:rPr>
              <a:t>Existing tools do not offer AI-based academic content generation, forcing students to rely on generic, non-customized outputs.</a:t>
            </a:r>
          </a:p>
          <a:p>
            <a:pPr marL="514350" lvl="0" indent="-5143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800" dirty="0">
                <a:latin typeface="Arial Narrow" panose="020B0606020202030204" pitchFamily="34" charset="0"/>
              </a:rPr>
              <a:t>There is a lack of systems that support custom page ranges, output formats, or question types, reducing the flexibility required for targeted preparation.</a:t>
            </a:r>
          </a:p>
          <a:p>
            <a:pPr marL="514350" lvl="0" indent="-5143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800" dirty="0">
                <a:latin typeface="Arial Narrow" panose="020B0606020202030204" pitchFamily="34" charset="0"/>
              </a:rPr>
              <a:t> A user-friendly tool that integrates automated extraction, intelligent analysis, and customizable outputs is missing in the current learning ecosystem.</a:t>
            </a:r>
          </a:p>
        </p:txBody>
      </p:sp>
    </p:spTree>
    <p:extLst>
      <p:ext uri="{BB962C8B-B14F-4D97-AF65-F5344CB8AC3E}">
        <p14:creationId xmlns:p14="http://schemas.microsoft.com/office/powerpoint/2010/main" val="3014861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</a:t>
            </a: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SYSTEM </a:t>
            </a:r>
            <a:r>
              <a:rPr lang="en-US" sz="4000" b="1" dirty="0">
                <a:solidFill>
                  <a:schemeClr val="dk1"/>
                </a:solidFill>
                <a:latin typeface="Arial Narrow"/>
              </a:rPr>
              <a:t>ARCHITECTURE</a:t>
            </a:r>
            <a:endParaRPr sz="4000" b="1" dirty="0">
              <a:solidFill>
                <a:schemeClr val="dk1"/>
              </a:solidFill>
              <a:latin typeface="Arial Narrow"/>
              <a:sym typeface="Arial Narrow"/>
            </a:endParaRPr>
          </a:p>
        </p:txBody>
      </p:sp>
      <p:pic>
        <p:nvPicPr>
          <p:cNvPr id="6" name="Graphic 5" descr="Document with solid fill">
            <a:extLst>
              <a:ext uri="{FF2B5EF4-FFF2-40B4-BE49-F238E27FC236}">
                <a16:creationId xmlns:a16="http://schemas.microsoft.com/office/drawing/2014/main" id="{7AA94E7E-57FE-9B37-6910-5062F8D23B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9058" y="3047787"/>
            <a:ext cx="914400" cy="914400"/>
          </a:xfrm>
          <a:prstGeom prst="rect">
            <a:avLst/>
          </a:prstGeom>
        </p:spPr>
      </p:pic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C79AFBB1-25E2-733E-C28B-30814DBD2FB1}"/>
              </a:ext>
            </a:extLst>
          </p:cNvPr>
          <p:cNvSpPr/>
          <p:nvPr/>
        </p:nvSpPr>
        <p:spPr>
          <a:xfrm>
            <a:off x="2713703" y="1584482"/>
            <a:ext cx="2025446" cy="1219200"/>
          </a:xfrm>
          <a:prstGeom prst="flowChart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Web Interface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HTML file Input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Text area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Analysis option</a:t>
            </a:r>
          </a:p>
        </p:txBody>
      </p:sp>
      <p:sp>
        <p:nvSpPr>
          <p:cNvPr id="8" name="Flowchart: Document 7">
            <a:extLst>
              <a:ext uri="{FF2B5EF4-FFF2-40B4-BE49-F238E27FC236}">
                <a16:creationId xmlns:a16="http://schemas.microsoft.com/office/drawing/2014/main" id="{95D68647-2CAE-4233-6F12-613662E421C1}"/>
              </a:ext>
            </a:extLst>
          </p:cNvPr>
          <p:cNvSpPr/>
          <p:nvPr/>
        </p:nvSpPr>
        <p:spPr>
          <a:xfrm>
            <a:off x="8085189" y="1386718"/>
            <a:ext cx="1750142" cy="1946787"/>
          </a:xfrm>
          <a:prstGeom prst="flowChart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highlight>
                  <a:srgbClr val="00FF00"/>
                </a:highlight>
              </a:rPr>
              <a:t>Backend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LLaMA</a:t>
            </a:r>
            <a:r>
              <a:rPr lang="en-US" dirty="0"/>
              <a:t> Model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Generate Summary, Q&amp;A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2F77C70F-6D3A-394A-9676-AABF27A7922A}"/>
              </a:ext>
            </a:extLst>
          </p:cNvPr>
          <p:cNvSpPr/>
          <p:nvPr/>
        </p:nvSpPr>
        <p:spPr>
          <a:xfrm>
            <a:off x="8483395" y="1724371"/>
            <a:ext cx="953730" cy="501445"/>
          </a:xfrm>
          <a:prstGeom prst="flowChartProcess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AI Analysis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210E0B38-EB1C-4FFA-162C-716B3C64334B}"/>
              </a:ext>
            </a:extLst>
          </p:cNvPr>
          <p:cNvSpPr/>
          <p:nvPr/>
        </p:nvSpPr>
        <p:spPr>
          <a:xfrm>
            <a:off x="8011447" y="4349876"/>
            <a:ext cx="1897626" cy="373626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AI Analysis</a:t>
            </a:r>
          </a:p>
        </p:txBody>
      </p:sp>
      <p:sp>
        <p:nvSpPr>
          <p:cNvPr id="11" name="Flowchart: Document 10">
            <a:extLst>
              <a:ext uri="{FF2B5EF4-FFF2-40B4-BE49-F238E27FC236}">
                <a16:creationId xmlns:a16="http://schemas.microsoft.com/office/drawing/2014/main" id="{8B8B9359-6DF3-466C-ADD5-D64AFBB25019}"/>
              </a:ext>
            </a:extLst>
          </p:cNvPr>
          <p:cNvSpPr/>
          <p:nvPr/>
        </p:nvSpPr>
        <p:spPr>
          <a:xfrm>
            <a:off x="2861187" y="5143469"/>
            <a:ext cx="1750142" cy="973393"/>
          </a:xfrm>
          <a:prstGeom prst="flowChart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Text Extract</a:t>
            </a:r>
          </a:p>
          <a:p>
            <a:pPr algn="ctr"/>
            <a:r>
              <a:rPr lang="en-US" b="1" dirty="0"/>
              <a:t>(pdf-parse)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BF4120-6602-9DA4-C9B9-3E92B30AB727}"/>
              </a:ext>
            </a:extLst>
          </p:cNvPr>
          <p:cNvSpPr txBox="1"/>
          <p:nvPr/>
        </p:nvSpPr>
        <p:spPr>
          <a:xfrm>
            <a:off x="8247422" y="4987210"/>
            <a:ext cx="16616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LLaLa</a:t>
            </a:r>
            <a:r>
              <a:rPr lang="en-US" b="1" dirty="0"/>
              <a:t>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Generate Summary, Q&amp;A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5B7474-601D-7805-F2BC-5A493A1B6C2C}"/>
              </a:ext>
            </a:extLst>
          </p:cNvPr>
          <p:cNvCxnSpPr>
            <a:cxnSpLocks/>
          </p:cNvCxnSpPr>
          <p:nvPr/>
        </p:nvCxnSpPr>
        <p:spPr>
          <a:xfrm>
            <a:off x="4747137" y="2055021"/>
            <a:ext cx="3330063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D68B91E-92E5-A003-17CF-29452054B389}"/>
              </a:ext>
            </a:extLst>
          </p:cNvPr>
          <p:cNvCxnSpPr>
            <a:stCxn id="11" idx="0"/>
            <a:endCxn id="11" idx="0"/>
          </p:cNvCxnSpPr>
          <p:nvPr/>
        </p:nvCxnSpPr>
        <p:spPr>
          <a:xfrm>
            <a:off x="3736258" y="514346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C7A0BA-15C0-F30C-DD6B-4E2393F81D00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960260" y="3204801"/>
            <a:ext cx="0" cy="11450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8817354-D79F-E92E-0AD9-17E097B08669}"/>
              </a:ext>
            </a:extLst>
          </p:cNvPr>
          <p:cNvCxnSpPr>
            <a:stCxn id="11" idx="0"/>
            <a:endCxn id="11" idx="0"/>
          </p:cNvCxnSpPr>
          <p:nvPr/>
        </p:nvCxnSpPr>
        <p:spPr>
          <a:xfrm>
            <a:off x="3736258" y="5143469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AE408AF-94AF-B13F-649E-E00CFC204A19}"/>
              </a:ext>
            </a:extLst>
          </p:cNvPr>
          <p:cNvCxnSpPr>
            <a:stCxn id="11" idx="0"/>
          </p:cNvCxnSpPr>
          <p:nvPr/>
        </p:nvCxnSpPr>
        <p:spPr>
          <a:xfrm flipV="1">
            <a:off x="3736258" y="4553533"/>
            <a:ext cx="0" cy="5899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85CA0CA-3D2B-6683-9660-8628AEB93EB5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3714750" y="4536689"/>
            <a:ext cx="4296697" cy="12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DA3F90F-33B6-5C6D-C0AB-2D835DE9B60C}"/>
              </a:ext>
            </a:extLst>
          </p:cNvPr>
          <p:cNvSpPr txBox="1"/>
          <p:nvPr/>
        </p:nvSpPr>
        <p:spPr>
          <a:xfrm>
            <a:off x="3231741" y="3962187"/>
            <a:ext cx="1111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Document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265938" y="1150374"/>
            <a:ext cx="5157900" cy="5205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600" b="1" dirty="0">
                <a:latin typeface="Arial Narrow"/>
                <a:ea typeface="Arial Narrow"/>
                <a:cs typeface="Arial Narrow"/>
                <a:sym typeface="Arial Narrow"/>
              </a:rPr>
              <a:t>HARDWARE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6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Font typeface="+mj-lt"/>
              <a:buAutoNum type="arabicPeriod"/>
            </a:pPr>
            <a:r>
              <a:rPr lang="en-US" sz="2600" dirty="0">
                <a:latin typeface="Arial Narrow"/>
                <a:ea typeface="Arial Narrow"/>
                <a:cs typeface="Arial Narrow"/>
                <a:sym typeface="Arial Narrow"/>
              </a:rPr>
              <a:t>Processor: Intel i3 or higher / AMD equivalent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Font typeface="+mj-lt"/>
              <a:buAutoNum type="arabicPeriod"/>
            </a:pPr>
            <a:r>
              <a:rPr lang="en-US" sz="2600" dirty="0">
                <a:latin typeface="Arial Narrow"/>
                <a:ea typeface="Arial Narrow"/>
                <a:cs typeface="Arial Narrow"/>
                <a:sym typeface="Arial Narrow"/>
              </a:rPr>
              <a:t>RAM: Minimum 8 GB (recommended 16 GB for faster NLP processing)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Font typeface="+mj-lt"/>
              <a:buAutoNum type="arabicPeriod"/>
            </a:pPr>
            <a:r>
              <a:rPr lang="en-US" sz="2600" dirty="0">
                <a:latin typeface="Arial Narrow"/>
                <a:ea typeface="Arial Narrow"/>
                <a:cs typeface="Arial Narrow"/>
                <a:sym typeface="Arial Narrow"/>
              </a:rPr>
              <a:t>Storage: At least 5 GB free disk space for project and temporary uploads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Font typeface="+mj-lt"/>
              <a:buAutoNum type="arabicPeriod"/>
            </a:pPr>
            <a:r>
              <a:rPr lang="en-US" sz="2600" dirty="0">
                <a:latin typeface="Arial Narrow"/>
                <a:ea typeface="Arial Narrow"/>
                <a:cs typeface="Arial Narrow"/>
                <a:sym typeface="Arial Narrow"/>
              </a:rPr>
              <a:t>Internet Connection: Required for API calls to NLP/AI services</a:t>
            </a:r>
            <a:endParaRPr sz="26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26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6938031" y="1150374"/>
            <a:ext cx="5183100" cy="5073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SOFTWARE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Font typeface="+mj-lt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Operating System: Windows 10/11, macOS, or Linux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Font typeface="+mj-lt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Backend: Node.js, Express.js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Font typeface="+mj-lt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Frontend: HTML5, CSS3, JavaScript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Font typeface="+mj-lt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Libraries/Frameworks: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	Multer (File upload handling)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	PDF-Parse (PDF text extraction)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	Mammoth.js (DOC/DOCX)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	NLP Libraries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5.     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Browser: Latest versions of Chrome, Firefox, or Edge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975851" y="190428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PDF Upload Module</a:t>
            </a:r>
          </a:p>
          <a:p>
            <a:pPr marL="5143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Text Extraction Module</a:t>
            </a:r>
          </a:p>
          <a:p>
            <a:pPr marL="5143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Analysis Selection Module</a:t>
            </a:r>
          </a:p>
          <a:p>
            <a:pPr marL="5143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AI Processing Module</a:t>
            </a:r>
          </a:p>
          <a:p>
            <a:pPr marL="5143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Output Formatting &amp; Export Module</a:t>
            </a:r>
            <a:endParaRPr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152400" y="316853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/>
            <a:r>
              <a:rPr lang="en-US" dirty="0"/>
              <a:t>FILE UPLOAD MODULE</a:t>
            </a: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322666" y="1681035"/>
            <a:ext cx="75628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Users upload PDF files through an HTML &lt;input type="file"&gt; element integrated into the UI.</a:t>
            </a:r>
          </a:p>
          <a:p>
            <a:pPr marL="51435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The selected file is packaged using Form Data and sent to the backend.</a:t>
            </a:r>
          </a:p>
          <a:p>
            <a:pPr marL="51435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Multer middleware efficiently handles the upload process, converting the PDF into a buffer for further processing.</a:t>
            </a:r>
            <a:endParaRPr dirty="0">
              <a:latin typeface="Arial Narrow" panose="020B0606020202030204" pitchFamily="34" charset="0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09656BB-8B2E-3E36-21FC-816E8E0F30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EEA3C9-0938-5ED9-86B9-1D2803595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290" y="1908524"/>
            <a:ext cx="4070874" cy="2144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682112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The backend processes the uploaded PDF buffer using the pdf-parse library.</a:t>
            </a:r>
          </a:p>
          <a:p>
            <a:pPr marL="51435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Text content is extracted, cleaned, and formatted to remove unnecessary noise.</a:t>
            </a:r>
          </a:p>
          <a:p>
            <a:pPr marL="51435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The extracted text is returned to the frontend and displayed in a </a:t>
            </a:r>
            <a:r>
              <a:rPr lang="en-US" dirty="0" err="1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textarea</a:t>
            </a: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for review.</a:t>
            </a:r>
            <a:endParaRPr dirty="0">
              <a:latin typeface="Arial Narrow" panose="020B0606020202030204" pitchFamily="34" charset="0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68826" y="397837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/>
            <a:r>
              <a:rPr lang="en-US" dirty="0"/>
              <a:t>PAGE RANGE SELECTION MODULE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858C76-6ADD-2FB6-F70E-7BB6634BD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9328" y="2838032"/>
            <a:ext cx="4404852" cy="10442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body" idx="1"/>
          </p:nvPr>
        </p:nvSpPr>
        <p:spPr>
          <a:xfrm>
            <a:off x="415413" y="1628980"/>
            <a:ext cx="716525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The interface allows users to choose the type of analysis: Summary, Question Generation, or General Analysis.</a:t>
            </a:r>
          </a:p>
          <a:p>
            <a:pPr marL="51435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Users can additionally specify output format (points or paragraph) and an optional page range.</a:t>
            </a:r>
          </a:p>
          <a:p>
            <a:pPr marL="51435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These choices are included in the analysis request to customize the AI’s behavior.</a:t>
            </a:r>
            <a:endParaRPr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168" name="Google Shape;1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0" y="30480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/>
            <a:r>
              <a:rPr lang="en-US" dirty="0"/>
              <a:t>ACTION SELECTION MODULE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A2E4EE-192C-E0E4-4C37-8DE51DF75B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963"/>
          <a:stretch>
            <a:fillRect/>
          </a:stretch>
        </p:blipFill>
        <p:spPr>
          <a:xfrm>
            <a:off x="7759921" y="2215299"/>
            <a:ext cx="4245265" cy="16586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731274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just">
              <a:lnSpc>
                <a:spcPct val="100000"/>
              </a:lnSpc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The backend dynamically builds an AI prompt based on selected options and extracted text.</a:t>
            </a:r>
          </a:p>
          <a:p>
            <a:pPr marL="514350" lvl="0" indent="-514350" algn="just">
              <a:lnSpc>
                <a:spcPct val="100000"/>
              </a:lnSpc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This prompt is processed using the </a:t>
            </a:r>
            <a:r>
              <a:rPr lang="en-US" dirty="0" err="1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Groq</a:t>
            </a: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LLaMA-3.3 70B model, ensuring high-quality academic outputs.</a:t>
            </a:r>
          </a:p>
          <a:p>
            <a:pPr marL="514350" lvl="0" indent="-514350" algn="just">
              <a:lnSpc>
                <a:spcPct val="100000"/>
              </a:lnSpc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The model generates structured summaries, insights, or categorized questions (short/long answer).</a:t>
            </a:r>
            <a:endParaRPr lang="en-US" dirty="0">
              <a:latin typeface="Arial Narrow" panose="020B0606020202030204" pitchFamily="34" charset="0"/>
            </a:endParaRPr>
          </a:p>
          <a:p>
            <a:pPr marL="0" lvl="0" indent="0">
              <a:lnSpc>
                <a:spcPct val="100000"/>
              </a:lnSpc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7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0" y="397837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/>
            <a:r>
              <a:rPr lang="en-US" dirty="0"/>
              <a:t>TEXT EXTRACTION &amp; NLP PROCESSING MODULE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705710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just">
              <a:lnSpc>
                <a:spcPct val="100000"/>
              </a:lnSpc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AI-generated results are formatted and displayed in the results section of the UI.</a:t>
            </a:r>
          </a:p>
          <a:p>
            <a:pPr marL="514350" lvl="0" indent="-514350" algn="just">
              <a:lnSpc>
                <a:spcPct val="100000"/>
              </a:lnSpc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The interface supports user-friendly actions such as copy to clipboard for quick reuse.</a:t>
            </a:r>
          </a:p>
          <a:p>
            <a:pPr marL="514350" lvl="0" indent="-514350" algn="just">
              <a:lnSpc>
                <a:spcPct val="100000"/>
              </a:lnSpc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Users can also download the output as a text file, enabling offline access and saving study material.</a:t>
            </a:r>
            <a:endParaRPr lang="en-US" dirty="0">
              <a:latin typeface="Arial Narrow" panose="020B0606020202030204" pitchFamily="34" charset="0"/>
            </a:endParaRPr>
          </a:p>
          <a:p>
            <a:pPr marL="0" lvl="0" indent="0">
              <a:lnSpc>
                <a:spcPct val="100000"/>
              </a:lnSpc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82" name="Google Shape;182;p14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422787" y="681037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/>
            <a:r>
              <a:rPr lang="en-US" dirty="0"/>
              <a:t>OUTPUT &amp; EXPORT MODULE</a:t>
            </a:r>
            <a:br>
              <a:rPr lang="en-US" dirty="0"/>
            </a:br>
            <a:r>
              <a:rPr lang="en-US" dirty="0"/>
              <a:t> 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3BC4E9-1D39-BD12-00C3-29BCB8803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303" y="1825625"/>
            <a:ext cx="4211525" cy="293239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Smart Prep successfully integrates PDF extraction and AI-driven analysis into a single, streamlined platform. The system transforms lengthy academic documents into meaningful summaries, insights, and structured study questions. By automating manual tasks like reading, summarizing, and note-making, the project significantly enhances study efficiency.</a:t>
            </a:r>
          </a:p>
          <a:p>
            <a:pPr marL="514350" lvl="0" indent="-514350" algn="just">
              <a:lnSpc>
                <a:spcPct val="10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The combination of Node.js, pdf-parse, and the </a:t>
            </a:r>
            <a:r>
              <a:rPr lang="en-US" dirty="0" err="1">
                <a:latin typeface="Arial Narrow" panose="020B0606020202030204" pitchFamily="34" charset="0"/>
              </a:rPr>
              <a:t>Groq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LLaMA</a:t>
            </a:r>
            <a:r>
              <a:rPr lang="en-US" dirty="0">
                <a:latin typeface="Arial Narrow" panose="020B0606020202030204" pitchFamily="34" charset="0"/>
              </a:rPr>
              <a:t> model demonstrates a reliable, scalable solution for educational content processing. Overall, Smart Prep proves effective as a lightweight, user-friendly tool that supports faster and smarter exam preparation.</a:t>
            </a: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17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158DC945-209D-3CC4-978D-F1775DC4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>
            <a:extLst>
              <a:ext uri="{FF2B5EF4-FFF2-40B4-BE49-F238E27FC236}">
                <a16:creationId xmlns:a16="http://schemas.microsoft.com/office/drawing/2014/main" id="{41AD951B-2AFC-752E-2E78-41812B040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b="1" dirty="0">
                <a:latin typeface="Arial Narrow"/>
              </a:rPr>
              <a:t>FUTURE ENHANCEMENTS </a:t>
            </a:r>
            <a:endParaRPr b="1" dirty="0">
              <a:latin typeface="Arial Narrow"/>
              <a:sym typeface="Arial Narrow"/>
            </a:endParaRPr>
          </a:p>
        </p:txBody>
      </p:sp>
      <p:sp>
        <p:nvSpPr>
          <p:cNvPr id="195" name="Google Shape;195;p16">
            <a:extLst>
              <a:ext uri="{FF2B5EF4-FFF2-40B4-BE49-F238E27FC236}">
                <a16:creationId xmlns:a16="http://schemas.microsoft.com/office/drawing/2014/main" id="{648B83C1-3DE7-3E3F-40F8-76D0B6241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376516"/>
            <a:ext cx="10515600" cy="4800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628650" indent="-514350" algn="just">
              <a:lnSpc>
                <a:spcPct val="110000"/>
              </a:lnSpc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In the future, Smart Prep can be expanded to support more advanced document processing and intelligent learning features. Multilingual analysis and topic-based segmentation can help students generate summaries and questions in their preferred language while automatically organizing content into chapters or themes. </a:t>
            </a:r>
          </a:p>
          <a:p>
            <a:pPr marL="628650" indent="-514350" algn="just">
              <a:lnSpc>
                <a:spcPct val="110000"/>
              </a:lnSpc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Further enhancements </a:t>
            </a:r>
            <a:r>
              <a:rPr lang="en-US" sz="3000" dirty="0">
                <a:latin typeface="Arial Narrow" panose="020B0606020202030204" pitchFamily="34" charset="0"/>
              </a:rPr>
              <a:t>can focus on user experience and accessibility. </a:t>
            </a:r>
            <a:r>
              <a:rPr lang="en-US" dirty="0">
                <a:latin typeface="Arial Narrow" panose="020B0606020202030204" pitchFamily="34" charset="0"/>
              </a:rPr>
              <a:t>A mobile app version and real-time collaboration features would enable students to access Smart Prep on the go and work together more effectively, transforming the platform into a complete AI-powered learning companion.</a:t>
            </a:r>
          </a:p>
          <a:p>
            <a:pPr marL="514350" lvl="0" indent="-514350" algn="just">
              <a:lnSpc>
                <a:spcPct val="11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endParaRPr lang="en-US" dirty="0">
              <a:latin typeface="Arial Narrow" panose="020B0606020202030204" pitchFamily="34" charset="0"/>
            </a:endParaRPr>
          </a:p>
          <a:p>
            <a:pPr marL="514350" lvl="0" indent="-514350" algn="just">
              <a:lnSpc>
                <a:spcPct val="110000"/>
              </a:lnSpc>
              <a:buSzPts val="2800"/>
              <a:buFont typeface="+mj-lt"/>
              <a:buAutoNum type="arabicPeriod"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96" name="Google Shape;196;p16">
            <a:extLst>
              <a:ext uri="{FF2B5EF4-FFF2-40B4-BE49-F238E27FC236}">
                <a16:creationId xmlns:a16="http://schemas.microsoft.com/office/drawing/2014/main" id="{5F65EE21-0D87-9A7B-FC62-462463E7E7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18</a:t>
            </a:fld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07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1312</Words>
  <Application>Microsoft Office PowerPoint</Application>
  <PresentationFormat>Widescreen</PresentationFormat>
  <Paragraphs>172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Times New Roman</vt:lpstr>
      <vt:lpstr>Arial Narrow</vt:lpstr>
      <vt:lpstr>Calibri</vt:lpstr>
      <vt:lpstr>Arial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FILE UPLOAD MODULE</vt:lpstr>
      <vt:lpstr>PAGE RANGE SELECTION MODULE</vt:lpstr>
      <vt:lpstr>ACTION SELECTION MODULE</vt:lpstr>
      <vt:lpstr>TEXT EXTRACTION &amp; NLP PROCESSING MODULE</vt:lpstr>
      <vt:lpstr>OUTPUT &amp; EXPORT MODULE  </vt:lpstr>
      <vt:lpstr>CONCLUSION</vt:lpstr>
      <vt:lpstr>FUTURE ENHANCEMENTS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Saravanan M</dc:creator>
  <cp:lastModifiedBy>Harshitha K</cp:lastModifiedBy>
  <cp:revision>14</cp:revision>
  <dcterms:modified xsi:type="dcterms:W3CDTF">2025-11-29T16:32:11Z</dcterms:modified>
</cp:coreProperties>
</file>